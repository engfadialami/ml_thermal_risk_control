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6576f10e7843ff" /><Relationship Type="http://schemas.openxmlformats.org/officeDocument/2006/relationships/extended-properties" Target="/docProps/app.xml" Id="R19b8129e2d3e45db" /><Relationship Type="http://schemas.openxmlformats.org/officeDocument/2006/relationships/officeDocument" Target="/ppt/presentation.xml" Id="R2daf2c20fdaa49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e9278979ae4299"/>
  </p:sldMasterIdLst>
  <p:notesMasterIdLst>
    <p:notesMasterId xmlns:r="http://schemas.openxmlformats.org/officeDocument/2006/relationships" r:id="R6eb41f9a0765421f"/>
  </p:notesMasterIdLst>
  <p:sldIdLst>
    <p:sldId xmlns:r="http://schemas.openxmlformats.org/officeDocument/2006/relationships" id="256" r:id="R2d5845e323034e40"/>
    <p:sldId xmlns:r="http://schemas.openxmlformats.org/officeDocument/2006/relationships" id="257" r:id="Re0541c21d1ec4036"/>
    <p:sldId xmlns:r="http://schemas.openxmlformats.org/officeDocument/2006/relationships" id="258" r:id="Rec12f0d356ae4c8e"/>
    <p:sldId xmlns:r="http://schemas.openxmlformats.org/officeDocument/2006/relationships" id="259" r:id="Re6c135300cf14fc0"/>
    <p:sldId xmlns:r="http://schemas.openxmlformats.org/officeDocument/2006/relationships" id="260" r:id="Rf0832be2e85446fa"/>
    <p:sldId xmlns:r="http://schemas.openxmlformats.org/officeDocument/2006/relationships" id="261" r:id="R98dcc24c04604e79"/>
    <p:sldId xmlns:r="http://schemas.openxmlformats.org/officeDocument/2006/relationships" id="262" r:id="R6feec506dae04161"/>
    <p:sldId xmlns:r="http://schemas.openxmlformats.org/officeDocument/2006/relationships" id="263" r:id="Rff6c14b5276342c7"/>
    <p:sldId xmlns:r="http://schemas.openxmlformats.org/officeDocument/2006/relationships" id="264" r:id="R3ca2761213f14020"/>
    <p:sldId xmlns:r="http://schemas.openxmlformats.org/officeDocument/2006/relationships" id="265" r:id="Re0706235d9e54f02"/>
    <p:sldId xmlns:r="http://schemas.openxmlformats.org/officeDocument/2006/relationships" id="266" r:id="R2a14163b94af458e"/>
    <p:sldId xmlns:r="http://schemas.openxmlformats.org/officeDocument/2006/relationships" id="267" r:id="R18662ccc90ab4d64"/>
    <p:sldId xmlns:r="http://schemas.openxmlformats.org/officeDocument/2006/relationships" id="268" r:id="R293a3379276e43f9"/>
    <p:sldId xmlns:r="http://schemas.openxmlformats.org/officeDocument/2006/relationships" id="269" r:id="R43c522eef3744b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48fbe73ffd4ff2" /><Relationship Type="http://schemas.openxmlformats.org/officeDocument/2006/relationships/slideMaster" Target="/ppt/slideMasters/slideMaster1.xml" Id="R16e9278979ae4299" /><Relationship Type="http://schemas.openxmlformats.org/officeDocument/2006/relationships/notesMaster" Target="/ppt/notesMasters/notesMaster1.xml" Id="R6eb41f9a0765421f" /><Relationship Type="http://schemas.openxmlformats.org/officeDocument/2006/relationships/presProps" Target="/ppt/presProps.xml" Id="R8fe1425be32c48fc" /><Relationship Type="http://schemas.openxmlformats.org/officeDocument/2006/relationships/tableStyles" Target="/ppt/tableStyles.xml" Id="Rf4e45ae215044f27" /><Relationship Type="http://schemas.openxmlformats.org/officeDocument/2006/relationships/slide" Target="/ppt/slides/slide1.xml" Id="R2d5845e323034e40" /><Relationship Type="http://schemas.openxmlformats.org/officeDocument/2006/relationships/slide" Target="/ppt/slides/slide2.xml" Id="Re0541c21d1ec4036" /><Relationship Type="http://schemas.openxmlformats.org/officeDocument/2006/relationships/slide" Target="/ppt/slides/slide3.xml" Id="Rec12f0d356ae4c8e" /><Relationship Type="http://schemas.openxmlformats.org/officeDocument/2006/relationships/slide" Target="/ppt/slides/slide4.xml" Id="Re6c135300cf14fc0" /><Relationship Type="http://schemas.openxmlformats.org/officeDocument/2006/relationships/slide" Target="/ppt/slides/slide5.xml" Id="Rf0832be2e85446fa" /><Relationship Type="http://schemas.openxmlformats.org/officeDocument/2006/relationships/slide" Target="/ppt/slides/slide6.xml" Id="R98dcc24c04604e79" /><Relationship Type="http://schemas.openxmlformats.org/officeDocument/2006/relationships/slide" Target="/ppt/slides/slide7.xml" Id="R6feec506dae04161" /><Relationship Type="http://schemas.openxmlformats.org/officeDocument/2006/relationships/slide" Target="/ppt/slides/slide8.xml" Id="Rff6c14b5276342c7" /><Relationship Type="http://schemas.openxmlformats.org/officeDocument/2006/relationships/slide" Target="/ppt/slides/slide9.xml" Id="R3ca2761213f14020" /><Relationship Type="http://schemas.openxmlformats.org/officeDocument/2006/relationships/slide" Target="/ppt/slides/slide10.xml" Id="Re0706235d9e54f02" /><Relationship Type="http://schemas.openxmlformats.org/officeDocument/2006/relationships/slide" Target="/ppt/slides/slide11.xml" Id="R2a14163b94af458e" /><Relationship Type="http://schemas.openxmlformats.org/officeDocument/2006/relationships/slide" Target="/ppt/slides/slide12.xml" Id="R18662ccc90ab4d64" /><Relationship Type="http://schemas.openxmlformats.org/officeDocument/2006/relationships/slide" Target="/ppt/slides/slide13.xml" Id="R293a3379276e43f9" /><Relationship Type="http://schemas.openxmlformats.org/officeDocument/2006/relationships/slide" Target="/ppt/slides/slide14.xml" Id="R43c522eef3744b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3ece8f3a5441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d8f169b76249ce" /><Relationship Type="http://schemas.openxmlformats.org/officeDocument/2006/relationships/notesMaster" Target="/ppt/notesMasters/notesMaster1.xml" Id="R66a4b4af4b414c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269ec83fd34cbf" /><Relationship Type="http://schemas.openxmlformats.org/officeDocument/2006/relationships/notesMaster" Target="/ppt/notesMasters/notesMaster1.xml" Id="Rac923bd066264f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72e39bcd2f4aaf" /><Relationship Type="http://schemas.openxmlformats.org/officeDocument/2006/relationships/notesMaster" Target="/ppt/notesMasters/notesMaster1.xml" Id="R270e5b73493a4b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74735a3bc74490" /><Relationship Type="http://schemas.openxmlformats.org/officeDocument/2006/relationships/notesMaster" Target="/ppt/notesMasters/notesMaster1.xml" Id="R38a7d82f05c846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4704f83a4f4c66" /><Relationship Type="http://schemas.openxmlformats.org/officeDocument/2006/relationships/notesMaster" Target="/ppt/notesMasters/notesMaster1.xml" Id="R64c44f3262114a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3ef9a2f39f4943" /><Relationship Type="http://schemas.openxmlformats.org/officeDocument/2006/relationships/notesMaster" Target="/ppt/notesMasters/notesMaster1.xml" Id="R27486cfc424140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d760e1ca5a4212" /><Relationship Type="http://schemas.openxmlformats.org/officeDocument/2006/relationships/notesMaster" Target="/ppt/notesMasters/notesMaster1.xml" Id="R7bf04db241b44d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d5e9c6956a4462" /><Relationship Type="http://schemas.openxmlformats.org/officeDocument/2006/relationships/notesMaster" Target="/ppt/notesMasters/notesMaster1.xml" Id="R823c1d4b52b74d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72fae4f1354dd2" /><Relationship Type="http://schemas.openxmlformats.org/officeDocument/2006/relationships/notesMaster" Target="/ppt/notesMasters/notesMaster1.xml" Id="R38bc14f0a89442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b7a3c304fa43a3" /><Relationship Type="http://schemas.openxmlformats.org/officeDocument/2006/relationships/notesMaster" Target="/ppt/notesMasters/notesMaster1.xml" Id="R10051ee9d3514e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dbf4c1fee748d4" /><Relationship Type="http://schemas.openxmlformats.org/officeDocument/2006/relationships/notesMaster" Target="/ppt/notesMasters/notesMaster1.xml" Id="Rf13902a36b7543e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39b413d6034e35" /><Relationship Type="http://schemas.openxmlformats.org/officeDocument/2006/relationships/notesMaster" Target="/ppt/notesMasters/notesMaster1.xml" Id="Rf87a33c4f4b64d0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f0d98c63003430c" /><Relationship Type="http://schemas.openxmlformats.org/officeDocument/2006/relationships/notesMaster" Target="/ppt/notesMasters/notesMaster1.xml" Id="R2dbde2f90fa8493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c9c1948ee954ceb" /><Relationship Type="http://schemas.openxmlformats.org/officeDocument/2006/relationships/notesMaster" Target="/ppt/notesMasters/notesMaster1.xml" Id="R202d1c48e16a46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project as an early-warning classifier for future thermal risk. Emphasize that the output is predictive decision support, not an automatic controller.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final_analysis_bundle.zip: final_analysis/final_analysis_report.md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scope was deliberately limited to reliable classification and deployment. Closed-loop or disturbance-aware control was not implemented and remains future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final_analysis_bundle.zip: final_analysis/final_analysis_report.md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five-stage structure. The sequence matters: data and leakage checks were completed before model selection or deployment.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final_analysis_bundle.zip: final_analysis/source_inventory.csv</a:t>
            </a:r>
          </a:p>
          <a:p xmlns:a="http://schemas.openxmlformats.org/drawingml/2006/main">
            <a:r>
              <a:t>- final_analysis_bundle.zip: final_analysis/final_analysis_report.md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rejection rate was very small, but rejected rows were still reported rather than silently removed.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final_analysis_bundle.zip: final_analysis/plots/01_stage1_data_retention.png</a:t>
            </a:r>
          </a:p>
          <a:p xmlns:a="http://schemas.openxmlformats.org/drawingml/2006/main">
            <a:r>
              <a:t>- final_analysis_bundle.zip: final_analysis/stage1_validation_summary.csv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sensor status flags explain almost all missing readings: 1,456 of 1,462 missing values. Heater_on was excluded because its logging resolution was unreliable.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final_analysis_bundle.zip: final_analysis/plots/02_sensor_quality_evidence.png</a:t>
            </a:r>
          </a:p>
          <a:p xmlns:a="http://schemas.openxmlformats.org/drawingml/2006/main">
            <a:r>
              <a:t>- final_analysis_bundle.zip: final_analysis/sensor_missingness_evidence.csv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Targets use future temperatures; features do not. Thirteen, 118 and 290 ambiguous rows were excluded at the 5, 10 and 15 minute horizons respectively.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final_analysis_bundle.zip: final_analysis/plots/04_target_availability_and_class_balance.png</a:t>
            </a:r>
          </a:p>
          <a:p xmlns:a="http://schemas.openxmlformats.org/drawingml/2006/main">
            <a:r>
              <a:t>- final_analysis_bundle.zip: final_analysis/leakage_reproducibility_audit.csv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plot supports the decision to include large positive and negative slopes in engineered features and in API stress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final_analysis_bundle.zip: final_analysis/plots/06_slope_by_future_risk.png</a:t>
            </a:r>
          </a:p>
          <a:p xmlns:a="http://schemas.openxmlformats.org/drawingml/2006/main">
            <a:r>
              <a:t>- final_analysis_bundle.zip: final_analysis/slope_risk_summary.csv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split is intentionally harder than a random split because it measures transfer to later unseen sequences. Distribution shift is therefore visible and reported.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final_analysis_bundle.zip: final_analysis/plots/08_split_class_distribution.png</a:t>
            </a:r>
          </a:p>
          <a:p xmlns:a="http://schemas.openxmlformats.org/drawingml/2006/main">
            <a:r>
              <a:t>- final_analysis_bundle.zip: final_analysis/key_metrics.csv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Logistic Regression, Random Forest and XGBoost were compared. Balanced accuracy was the selection metric because NORMAL dominates the classes.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final_analysis_bundle.zip: final_analysis/plots/10_validation_model_comparison.png</a:t>
            </a:r>
          </a:p>
          <a:p xmlns:a="http://schemas.openxmlformats.org/drawingml/2006/main">
            <a:r>
              <a:t>- final_analysis_bundle.zip: final_analysis/key_metrics.csv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Normalization was not allowed to change labels or dynamic features. The verification table records which columns changed and which stayed fixed.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final_analysis_bundle.zip: final_analysis/plots/09_hatch_normalization_verification.png</a:t>
            </a:r>
          </a:p>
          <a:p xmlns:a="http://schemas.openxmlformats.org/drawingml/2006/main">
            <a:r>
              <a:t>- final_analysis_bundle.zip: final_analysis/normalization_verification.csv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5 and 10 minute models retain similar balanced accuracy. The 15 minute model is weaker, which is expected as uncertainty accumulates. HIGH-class recall remains moderate and is a key improvement target.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final_analysis_bundle.zip: final_analysis/plots/11_final_test_performance.png</a:t>
            </a:r>
          </a:p>
          <a:p xmlns:a="http://schemas.openxmlformats.org/drawingml/2006/main">
            <a:r>
              <a:t>- final_analysis_bundle.zip: final_analysis/key_metrics.csv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API provides a health check and a single prediction request that returns all three horizons. Five held-out examples were used for manual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screenshot: 2026-08-16_16h53_31.png</a:t>
            </a:r>
          </a:p>
          <a:p xmlns:a="http://schemas.openxmlformats.org/drawingml/2006/main">
            <a:r>
              <a:t>- final_analysis_bundle.zip: final_analysis/final_analysis_report.md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these as engineering decisions, not hidden problems. Each difficulty is linked to a concrete method and an auditable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final_analysis_bundle.zip: final_analysis/assumption_evidence.csv</a:t>
            </a:r>
          </a:p>
          <a:p xmlns:a="http://schemas.openxmlformats.org/drawingml/2006/main">
            <a:r>
              <a:t>- final_analysis_bundle.zip: final_analysis/final_analysis_report.md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completed scope. Future work should first improve data coverage and minority-class recall. Closed-loop control must be evaluated as a separate engineering and safety project.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final_analysis_bundle.zip: final_analysis/key_metrics.csv</a:t>
            </a:r>
          </a:p>
          <a:p xmlns:a="http://schemas.openxmlformats.org/drawingml/2006/main">
            <a:r>
              <a:t>- final_analysis_bundle.zip: final_analysis/final_analysis_report.md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6c39cb692547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7dcee18d1d4f30" /><Relationship Type="http://schemas.openxmlformats.org/officeDocument/2006/relationships/slideLayout" Target="/ppt/slideLayouts/slideLayout1.xml" Id="Rf84a7e03913048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4a7e03913048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8fc736d724d21" /><Relationship Type="http://schemas.openxmlformats.org/officeDocument/2006/relationships/notesSlide" Target="/ppt/notesSlides/notesSlide1.xml" Id="Rb05e2ff71e904c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3f429233749c1" /><Relationship Type="http://schemas.openxmlformats.org/officeDocument/2006/relationships/notesSlide" Target="/ppt/notesSlides/notesSlide2.xml" Id="Rd6a6c444120946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334290f964324" /><Relationship Type="http://schemas.openxmlformats.org/officeDocument/2006/relationships/notesSlide" Target="/ppt/notesSlides/notesSlide3.xml" Id="Rca0b82f1c45641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ae07432634694" /><Relationship Type="http://schemas.openxmlformats.org/officeDocument/2006/relationships/image" Target="/ppt/media/image.png" Id="Rf312c49eb58a4952" /><Relationship Type="http://schemas.openxmlformats.org/officeDocument/2006/relationships/notesSlide" Target="/ppt/notesSlides/notesSlide4.xml" Id="R88a674ed14ab41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de6c728c34649" /><Relationship Type="http://schemas.openxmlformats.org/officeDocument/2006/relationships/image" Target="/ppt/media/image2.png" Id="Re56a811c47fd4961" /><Relationship Type="http://schemas.openxmlformats.org/officeDocument/2006/relationships/notesSlide" Target="/ppt/notesSlides/notesSlide5.xml" Id="Raaeece2989034a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587ae731c467b" /><Relationship Type="http://schemas.openxmlformats.org/officeDocument/2006/relationships/image" Target="/ppt/media/image3.png" Id="R42f93596c0ea4701" /><Relationship Type="http://schemas.openxmlformats.org/officeDocument/2006/relationships/notesSlide" Target="/ppt/notesSlides/notesSlide6.xml" Id="R3615de9fa8034e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6d7c0337842a0" /><Relationship Type="http://schemas.openxmlformats.org/officeDocument/2006/relationships/image" Target="/ppt/media/image4.png" Id="R941a2cca33f2439b" /><Relationship Type="http://schemas.openxmlformats.org/officeDocument/2006/relationships/notesSlide" Target="/ppt/notesSlides/notesSlide7.xml" Id="R69a813d6278e49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f1553b0b745de" /><Relationship Type="http://schemas.openxmlformats.org/officeDocument/2006/relationships/image" Target="/ppt/media/image5.png" Id="R81843c7227f0441c" /><Relationship Type="http://schemas.openxmlformats.org/officeDocument/2006/relationships/notesSlide" Target="/ppt/notesSlides/notesSlide8.xml" Id="R3055ae913c454f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e257791814f1d" /><Relationship Type="http://schemas.openxmlformats.org/officeDocument/2006/relationships/image" Target="/ppt/media/image6.png" Id="Ra2282db267674e97" /><Relationship Type="http://schemas.openxmlformats.org/officeDocument/2006/relationships/notesSlide" Target="/ppt/notesSlides/notesSlide9.xml" Id="R277712c90e0d42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8cf3c12d64fb6" /><Relationship Type="http://schemas.openxmlformats.org/officeDocument/2006/relationships/image" Target="/ppt/media/image7.png" Id="R85d876683cc34219" /><Relationship Type="http://schemas.openxmlformats.org/officeDocument/2006/relationships/notesSlide" Target="/ppt/notesSlides/notesSlide10.xml" Id="R24a7d6fcac6949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898c69e4b44c8" /><Relationship Type="http://schemas.openxmlformats.org/officeDocument/2006/relationships/image" Target="/ppt/media/image8.png" Id="R708920e23c46458a" /><Relationship Type="http://schemas.openxmlformats.org/officeDocument/2006/relationships/notesSlide" Target="/ppt/notesSlides/notesSlide11.xml" Id="R5165a6304d644b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17b745560422e" /><Relationship Type="http://schemas.openxmlformats.org/officeDocument/2006/relationships/image" Target="/ppt/media/image9.png" Id="R12b5d9fef08145ef" /><Relationship Type="http://schemas.openxmlformats.org/officeDocument/2006/relationships/notesSlide" Target="/ppt/notesSlides/notesSlide12.xml" Id="R9ef0bcbd160640d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f33b9a60746a0" /><Relationship Type="http://schemas.openxmlformats.org/officeDocument/2006/relationships/notesSlide" Target="/ppt/notesSlides/notesSlide13.xml" Id="R9ccefed952014ca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47531d3224c62" /><Relationship Type="http://schemas.openxmlformats.org/officeDocument/2006/relationships/notesSlide" Target="/ppt/notesSlides/notesSlide14.xml" Id="R0571b0ac04f447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3C876E-4348-4AD7-9C7A-093AE7C9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22D37-E055-4E52-8CCA-27A3AD2A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8F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8F87"/>
                </a:solidFill>
                <a:latin typeface="Aptos"/>
                <a:ea typeface="Aptos"/>
                <a:cs typeface="Aptos"/>
              </a:rPr>
              <a:t>PSSAR / GSG ADVANCED TRAINING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A02D7-4062-4735-B5FE-E604CEE3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82867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ML-Based Thermal</a:t>
            </a:r>
          </a:p>
          <a:p xmlns:a="http://schemas.openxmlformats.org/drawingml/2006/main">
            <a:pPr algn="l">
              <a:defRPr sz="4350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Risk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82144-F85D-4804-A608-128097F4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Multi-sensor incubator system · 5, 10 and 15 minute horizons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463EA0-A787-4E41-BA46-930CB3A6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EF46A1-5185-4D52-AF39-E6BD8CF2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Fady Alami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77EAD0-575F-48EC-BBD9-9BF5A309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483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Final capstone 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FB1F7-763E-4F20-B8D9-389E1868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667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DFF4F2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7C5B8C-6B49-4624-885F-5E21199C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9B061-1039-4688-BDBE-B7F6039B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719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8F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8F87"/>
                </a:solidFill>
                <a:latin typeface="Aptos"/>
                <a:ea typeface="Aptos"/>
                <a:cs typeface="Aptos"/>
              </a:rPr>
              <a:t>FINAL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401185-0D0F-4710-9288-2D296465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19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3 models +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347CEC-22F6-4404-BECA-9225ADED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876800"/>
            <a:ext cx="2266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Chronological evaluation</a:t>
            </a:r>
          </a:p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and deployment-ready pipelines</a:t>
            </a:r>
          </a:p>
        </p:txBody>
      </p:sp>
    </p:spTree>
    <p:extLst>
      <p:ext uri="{BB962C8B-B14F-4D97-AF65-F5344CB8AC3E}">
        <p14:creationId xmlns:p14="http://schemas.microsoft.com/office/powerpoint/2010/main" val="20591639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DA7971-4AAA-4777-8CB8-8B959F61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8F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8F87"/>
                </a:solidFill>
                <a:latin typeface="Aptos"/>
                <a:ea typeface="Aptos"/>
                <a:cs typeface="Aptos"/>
              </a:rPr>
              <a:t>CAPSTONE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F63E8-AB1B-489B-917B-66618FA8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What the project needed to achieve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71EC3-431A-4C76-901B-315F4A10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B9673-D821-40AF-8670-EC32255E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525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47173-5BFA-495C-8564-94D53D13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5429250" cy="4114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FF4F2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CAAE4-2C3F-4B2D-B775-2028763E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66675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43644-F414-4D6E-B969-6850F8EC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8F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8F87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2935AE-70E6-4D83-9394-0DF33C08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02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Predict risk before it happens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1DD937-A7BD-4D24-A51A-4E996FFD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50292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• Combine four temperature sensors and controller state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• Predict LOW / NORMAL / HIGH at 5, 10 and 15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• Preserve time order and prevent target leakage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5A298-1A28-43D5-852C-5D649ABD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62100"/>
            <a:ext cx="5553075" cy="4114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2BF99-A90E-498E-9AC9-9F14DA28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62100"/>
            <a:ext cx="66675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C8492A-FFFA-488A-A6EA-40EAD326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733550"/>
            <a:ext cx="5172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67B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E67B1"/>
                </a:solidFill>
                <a:latin typeface="Aptos"/>
                <a:ea typeface="Aptos"/>
                <a:cs typeface="Aptos"/>
              </a:rPr>
              <a:t>DELIVERABLE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BB0AA-87D5-420E-8748-9C58D3DF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981200"/>
            <a:ext cx="5153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A reproducible ML 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DA6B5B-62F8-4EA8-898E-3C1F2F1B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38400"/>
            <a:ext cx="5153025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• Validated preparation and feature pipeline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• Compared three classifier families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• Saved complete inference pipelines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• Exposed /health and /predict with FastAPI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19FE64-F8FA-4718-B1D4-6AF17E4D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ML-Based Thermal Risk Prediction</a:t>
            </a:r>
          </a:p>
        </p:txBody>
      </p:sp>
    </p:spTree>
    <p:extLst>
      <p:ext uri="{BB962C8B-B14F-4D97-AF65-F5344CB8AC3E}">
        <p14:creationId xmlns:p14="http://schemas.microsoft.com/office/powerpoint/2010/main" val="159148832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D5BE05-3EE9-4CB8-AFFB-A8166639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8F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8F87"/>
                </a:solidFill>
                <a:latin typeface="Aptos"/>
                <a:ea typeface="Aptos"/>
                <a:cs typeface="Aptos"/>
              </a:rPr>
              <a:t>CAPSTONE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398DC-2031-4BAB-BF2D-E4BA7F8F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Five milestones from raw logs to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C77CB-93C3-4A45-9B8A-A73A49F2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622C3-5436-4C4F-8A90-DA22B9B6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525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89018-DB23-4268-BD36-9EBD4964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Each stage produced a checked artifact before the next stage began.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A34B57-DF8B-4F00-8F87-0434BC39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2047875" cy="2762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B1C95B-F0E1-4568-BBB9-D5FFF276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8F8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8F8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FE88ED-4C4B-4433-9C4F-2B9DF59A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2A8D3-3AB3-4F34-96A4-83AB54DF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619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Schema, timestamps, numeric ranges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D4E4F1-7015-4FAF-A55E-0CC9468C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238375"/>
            <a:ext cx="2047875" cy="2762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29FB7E-21AA-45B2-9D9C-DA515A10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4765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8F8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8F8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F7B944-953E-42EE-AD20-C31D7909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2194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Prepare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59F672-ABB6-435E-9E0F-082B4A3E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829050"/>
            <a:ext cx="1619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Sequence-aware cleaning and metadata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AFCEAD-3BAA-4DE1-B3DF-9B1FAC43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38375"/>
            <a:ext cx="2047875" cy="2762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52256B-770E-4B7D-90B9-8EFE213A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765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8F8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8F8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C29095-A685-4224-9C20-54A5D25B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194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Engineer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900819-53D0-47CC-83C0-2B2DEF1A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29050"/>
            <a:ext cx="1619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31 current and historical features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9DCC6A-D827-41B4-9F1E-C9080F68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238375"/>
            <a:ext cx="2047875" cy="2762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DD7261-DA5A-428A-A63C-17494F98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765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8F8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8F8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6756DA-661C-4C0F-B5E0-82FAEF37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2194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E8A653-97DA-46AC-B4E8-CA7D2E7E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29050"/>
            <a:ext cx="1619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Chronological split and comparison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F38D11-3B47-4B3E-966F-1D4AA1BC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38375"/>
            <a:ext cx="2047875" cy="2762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DFF4F2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4B38B9-3D47-433B-B37F-EFB0205E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765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8F8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8F8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7F7DAE-1B17-4B9F-86EC-3CD2B2F2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2194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Deploy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975A44-F0E7-40CE-9DA4-63708738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829050"/>
            <a:ext cx="1619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Three pipelines and FastAPI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6D9575-69B9-451D-9475-4572CCC9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ML-Based Thermal Risk Prediction</a:t>
            </a:r>
          </a:p>
        </p:txBody>
      </p:sp>
    </p:spTree>
    <p:extLst>
      <p:ext uri="{BB962C8B-B14F-4D97-AF65-F5344CB8AC3E}">
        <p14:creationId xmlns:p14="http://schemas.microsoft.com/office/powerpoint/2010/main" val="44035572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7FEAE7-9271-4D22-812F-2046D99A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8F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8F87"/>
                </a:solidFill>
                <a:latin typeface="Aptos"/>
                <a:ea typeface="Aptos"/>
                <a:cs typeface="Aptos"/>
              </a:rPr>
              <a:t>DATA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FBCE5-2DBE-496F-B9B3-2EA78358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Stage 1 — validation retained almost all 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4A617-41D2-4E38-9879-2AA61E06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F4C10-6CDC-46B0-B2FE-EB28DDBA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525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B1014-F37A-478D-9EB4-57E43547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7096125" cy="46863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12c49eb58a4952"/>
          <a:stretch xmlns:a="http://schemas.openxmlformats.org/drawingml/2006/main"/>
        </p:blipFill>
        <p:spPr>
          <a:xfrm xmlns:a="http://schemas.openxmlformats.org/drawingml/2006/main">
            <a:off x="514350" y="2353132"/>
            <a:ext cx="6867525" cy="274228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36346B-8622-460B-B0AD-AD3E59D4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381125"/>
            <a:ext cx="395287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DFF4F2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69BDB-3578-4CEA-ADE5-AA0DD668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381125"/>
            <a:ext cx="666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A2598B-D51E-47CA-9E2C-C1629297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552575"/>
            <a:ext cx="3571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8F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8F87"/>
                </a:solidFill>
                <a:latin typeface="Aptos"/>
                <a:ea typeface="Aptos"/>
                <a:cs typeface="Aptos"/>
              </a:rPr>
              <a:t>RAW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B2F0CC-98A2-4462-A0C2-755C720F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00225"/>
            <a:ext cx="3552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53,075 rows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4D4F1B-C3AF-41B8-A2AE-A1628AAE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57425"/>
            <a:ext cx="3552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Input logs inspected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65EEA7-2540-4E6D-8B34-AD26FECA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943225"/>
            <a:ext cx="395287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C670E-04B4-4BCA-8253-2C25D885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943225"/>
            <a:ext cx="666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93D4E7-5C60-410D-9381-A868E621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14675"/>
            <a:ext cx="3571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67B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E67B1"/>
                </a:solidFill>
                <a:latin typeface="Aptos"/>
                <a:ea typeface="Aptos"/>
                <a:cs typeface="Aptos"/>
              </a:rPr>
              <a:t>RETAINED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E222A9-6AAF-406D-AC67-75FE168A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62325"/>
            <a:ext cx="3552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99.9736%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072418-7AFE-46EC-B8A3-77E1A727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19525"/>
            <a:ext cx="3552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53,061 complete rows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F54A9C-3E79-4FC6-A3F0-834BA78D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505325"/>
            <a:ext cx="395287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6D2A01-23C1-4EEB-AFDF-58216884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505325"/>
            <a:ext cx="666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5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E1634A-ECFC-40EF-A9D3-FC685EAE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76775"/>
            <a:ext cx="3571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F5C4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F5C45"/>
                </a:solidFill>
                <a:latin typeface="Aptos"/>
                <a:ea typeface="Aptos"/>
                <a:cs typeface="Aptos"/>
              </a:rPr>
              <a:t>REJECTED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876E3F-5AEB-4346-885B-B9C8EC72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924425"/>
            <a:ext cx="3552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14 rows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910282-DF6E-4799-9EDC-84474577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381625"/>
            <a:ext cx="3552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Explicitly recorded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F284A6-D762-43D3-BED3-B93820A3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ML-Based Thermal Risk Prediction</a:t>
            </a:r>
          </a:p>
        </p:txBody>
      </p:sp>
    </p:spTree>
    <p:extLst>
      <p:ext uri="{BB962C8B-B14F-4D97-AF65-F5344CB8AC3E}">
        <p14:creationId xmlns:p14="http://schemas.microsoft.com/office/powerpoint/2010/main" val="3971162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9AD2CF-2F74-4CAD-BEFB-76AB5880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8F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8F87"/>
                </a:solidFill>
                <a:latin typeface="Aptos"/>
                <a:ea typeface="Aptos"/>
                <a:cs typeface="Aptos"/>
              </a:rPr>
              <a:t>DATA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A8BA6-27E3-4029-9545-B0841A6D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Stage 2 — sensor issues were observable, not random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BB5AF-2E9E-45B2-A032-0F31A4FA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2A3DC-A34C-4B73-A328-863388A9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525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29138-BAB6-47A8-8787-C379930D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7096125" cy="46863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6a811c47fd4961"/>
          <a:stretch xmlns:a="http://schemas.openxmlformats.org/drawingml/2006/main"/>
        </p:blipFill>
        <p:spPr>
          <a:xfrm xmlns:a="http://schemas.openxmlformats.org/drawingml/2006/main">
            <a:off x="514350" y="2407878"/>
            <a:ext cx="6867525" cy="263279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C3008B-0B83-4AAF-B8DE-890D09F1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381125"/>
            <a:ext cx="395287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DFF4F2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0BFAEA-49C9-4B2A-AA69-EFFE818E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381125"/>
            <a:ext cx="666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30716A-8545-49A5-9CBF-E1DA4A65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552575"/>
            <a:ext cx="3571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8F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8F87"/>
                </a:solidFill>
                <a:latin typeface="Aptos"/>
                <a:ea typeface="Aptos"/>
                <a:cs typeface="Aptos"/>
              </a:rPr>
              <a:t>STRUCTURE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4C8FF-1EA3-4027-8163-F1301E5E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00225"/>
            <a:ext cx="3552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9 sequences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953CC5-E3F3-4E23-A818-9EC11416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57425"/>
            <a:ext cx="3552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Handled as separate runs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F14537-638F-449B-92D0-1A626FDB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943225"/>
            <a:ext cx="395287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ADE84B-CEBF-4F10-A55A-BBAA73EB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943225"/>
            <a:ext cx="666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4DCB61-E1AE-4AD3-8533-E4E8B191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14675"/>
            <a:ext cx="3571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67B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E67B1"/>
                </a:solidFill>
                <a:latin typeface="Aptos"/>
                <a:ea typeface="Aptos"/>
                <a:cs typeface="Aptos"/>
              </a:rPr>
              <a:t>SAMPLING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6ED4D-DC9E-496B-83F5-70CA2B9F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62325"/>
            <a:ext cx="3552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16.349 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1C5269-1503-455D-A139-22A2A4E2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19525"/>
            <a:ext cx="3552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Median time interval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F3E7E4-9FF1-4231-B867-13E3F2C6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505325"/>
            <a:ext cx="395287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A7890D-B69E-4208-81A5-0769649F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505325"/>
            <a:ext cx="666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B38B01-BE85-4AEE-BB90-8E50094A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76775"/>
            <a:ext cx="3571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912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9120"/>
                </a:solidFill>
                <a:latin typeface="Aptos"/>
                <a:ea typeface="Aptos"/>
                <a:cs typeface="Aptos"/>
              </a:rPr>
              <a:t>QUALITY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E37ED5-52BE-41BB-93DE-C7C656CE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924425"/>
            <a:ext cx="3552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99.59%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6D5A21-C9A4-4CD8-9B8A-CD93BF45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381625"/>
            <a:ext cx="3552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Missing values explained by ERR 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A3B08E-8016-4C1E-8A94-CAE6C260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ML-Based Thermal Risk Prediction</a:t>
            </a:r>
          </a:p>
        </p:txBody>
      </p:sp>
    </p:spTree>
    <p:extLst>
      <p:ext uri="{BB962C8B-B14F-4D97-AF65-F5344CB8AC3E}">
        <p14:creationId xmlns:p14="http://schemas.microsoft.com/office/powerpoint/2010/main" val="76352343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4CAE98-74A9-487F-B1AC-EB979AA5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8F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8F87"/>
                </a:solidFill>
                <a:latin typeface="Aptos"/>
                <a:ea typeface="Aptos"/>
                <a:cs typeface="Aptos"/>
              </a:rPr>
              <a:t>FEATURE &amp; TARGET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54646-3D4E-4F3D-80E1-A4B10226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Stage 3 — future labels were built without leakage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92B09-95A2-4C4F-89A3-6942310C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89036-182A-445D-9A1B-FD55338B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525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00404-92FA-41D1-A88A-C6A5A38F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7096125" cy="46863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f93596c0ea4701"/>
          <a:stretch xmlns:a="http://schemas.openxmlformats.org/drawingml/2006/main"/>
        </p:blipFill>
        <p:spPr>
          <a:xfrm xmlns:a="http://schemas.openxmlformats.org/drawingml/2006/main">
            <a:off x="514350" y="2408342"/>
            <a:ext cx="6867525" cy="263186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64E96-3280-42C5-8647-457B35DB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381125"/>
            <a:ext cx="395287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DFF4F2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BB965-041F-4E97-B630-7EA9306B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381125"/>
            <a:ext cx="666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00F93E-D558-4A01-AAEE-23952678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552575"/>
            <a:ext cx="3571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8F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8F87"/>
                </a:solidFill>
                <a:latin typeface="Aptos"/>
                <a:ea typeface="Aptos"/>
                <a:cs typeface="Aptos"/>
              </a:rPr>
              <a:t>HORIZONS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29C79-03CE-4337-B413-46EE23B6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00225"/>
            <a:ext cx="3552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5 / 10 / 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16E062-E4BC-41D6-BD63-065CC2AE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57425"/>
            <a:ext cx="3552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Three independent targets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4856CF-794E-4607-A2BE-1158EE4D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943225"/>
            <a:ext cx="395287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D834BE-1A01-493D-B9D3-1B51EA10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943225"/>
            <a:ext cx="666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3EFD48-1156-4AF5-973D-15D05D31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14675"/>
            <a:ext cx="3571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67B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E67B1"/>
                </a:solidFill>
                <a:latin typeface="Aptos"/>
                <a:ea typeface="Aptos"/>
                <a:cs typeface="Aptos"/>
              </a:rPr>
              <a:t>BANDS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AE0430-F054-424F-BEEE-738078D3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62325"/>
            <a:ext cx="3552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Mode-aware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C5C15C-969A-44DC-8E96-049EAFA9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19525"/>
            <a:ext cx="3552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NRML 37.3–37.7°C</a:t>
            </a:r>
          </a:p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HTCH 37.1–37.5°C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874756-3F6B-4AFC-A8E9-9A07442A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505325"/>
            <a:ext cx="395287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37FB59-92C6-4FEA-ACDF-581281B3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505325"/>
            <a:ext cx="666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CBC946-9464-40CE-9B87-153DB82D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76775"/>
            <a:ext cx="3571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912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9120"/>
                </a:solidFill>
                <a:latin typeface="Aptos"/>
                <a:ea typeface="Aptos"/>
                <a:cs typeface="Aptos"/>
              </a:rPr>
              <a:t>LEAKAGE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BC80DB-04DB-4DDB-A1FE-590E1992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924425"/>
            <a:ext cx="3552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Future = label 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1456A8-B996-434D-BC47-6A1C6E71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381625"/>
            <a:ext cx="3552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Predictors use present and past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ED592B-27F4-4410-BEE9-C9FF8753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ML-Based Thermal Risk Prediction</a:t>
            </a:r>
          </a:p>
        </p:txBody>
      </p:sp>
    </p:spTree>
    <p:extLst>
      <p:ext uri="{BB962C8B-B14F-4D97-AF65-F5344CB8AC3E}">
        <p14:creationId xmlns:p14="http://schemas.microsoft.com/office/powerpoint/2010/main" val="129268422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4EAB65-72D0-47EA-926A-855E11C0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8F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8F87"/>
                </a:solidFill>
                <a:latin typeface="Aptos"/>
                <a:ea typeface="Aptos"/>
                <a:cs typeface="Aptos"/>
              </a:rPr>
              <a:t>ASSUMPTION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78D2E-78A6-4F69-B848-A080924C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Slope features captured thermal direction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9F3D8-5239-469E-96B1-4C228C54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09AC7-C02A-4D6A-A971-9A4158E0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525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77ABA0-730F-48C3-9587-A5784FC1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7096125" cy="46863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1a2cca33f2439b"/>
          <a:stretch xmlns:a="http://schemas.openxmlformats.org/drawingml/2006/main"/>
        </p:blipFill>
        <p:spPr>
          <a:xfrm xmlns:a="http://schemas.openxmlformats.org/drawingml/2006/main">
            <a:off x="514350" y="2584923"/>
            <a:ext cx="6867525" cy="227870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48FB1E-A2CA-4911-B186-9E60E48F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381125"/>
            <a:ext cx="395287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DFF4F2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DB296B-5571-4530-9A83-B436E00F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381125"/>
            <a:ext cx="666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915AA-1852-4F05-9917-3FC795B3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552575"/>
            <a:ext cx="3571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8F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8F87"/>
                </a:solidFill>
                <a:latin typeface="Aptos"/>
                <a:ea typeface="Aptos"/>
                <a:cs typeface="Aptos"/>
              </a:rPr>
              <a:t>ASSUMPTION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DD5D91-CD17-424F-AF2D-DF70FC28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00225"/>
            <a:ext cx="3552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Direction matters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B9F260-0C01-4BB3-8DA4-04B6A825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57425"/>
            <a:ext cx="3552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Fast rises/falls signal changing 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937D4F-B566-4210-A78E-A251DE0A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943225"/>
            <a:ext cx="395287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0ED04B-ABD2-47DB-852B-9D4925D5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943225"/>
            <a:ext cx="666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529BCB-BB2D-497B-89E8-49C6F8F8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14675"/>
            <a:ext cx="3571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67B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E67B1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11AF42-7FAF-49E5-AFC8-391249B2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62325"/>
            <a:ext cx="3552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Classes separate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969B82-C641-4194-9A1E-39D30CE7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19525"/>
            <a:ext cx="3552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Slope distributions shift by future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32032-A1AE-4266-A6AA-A7C8C15D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505325"/>
            <a:ext cx="395287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5A51ED-5B00-424A-85B7-C02C90A5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505325"/>
            <a:ext cx="666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AE4FB3-532E-4C1C-B626-C7D283D0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76775"/>
            <a:ext cx="3571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912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9120"/>
                </a:solidFill>
                <a:latin typeface="Aptos"/>
                <a:ea typeface="Aptos"/>
                <a:cs typeface="Aptos"/>
              </a:rPr>
              <a:t>DESIGN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02180F-6248-4017-A2C3-7CF2BAFA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924425"/>
            <a:ext cx="3552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Multiple windows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B66AF8-DA28-4E82-9110-99BE6502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381625"/>
            <a:ext cx="3552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5, 10 and 15 minute history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040A86-66A1-4DEC-BE6E-51E9FCDE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ML-Based Thermal Risk Prediction</a:t>
            </a:r>
          </a:p>
        </p:txBody>
      </p:sp>
    </p:spTree>
    <p:extLst>
      <p:ext uri="{BB962C8B-B14F-4D97-AF65-F5344CB8AC3E}">
        <p14:creationId xmlns:p14="http://schemas.microsoft.com/office/powerpoint/2010/main" val="75595535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885D17-F1B3-44D4-9C89-B77F7A9E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8F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8F87"/>
                </a:solidFill>
                <a:latin typeface="Aptos"/>
                <a:ea typeface="Aptos"/>
                <a:cs typeface="Aptos"/>
              </a:rPr>
              <a:t>MODELING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A4AEB-95C7-4DFC-905A-26976A9F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Stage 4 — evaluation followed time and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AED47-B47F-4B94-8DED-C6D809BC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77F9F-330B-4E64-AB1E-ED982D60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525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DADFB-6113-41E9-BFF9-1EFC80F9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7096125" cy="46863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43c7227f0441c"/>
          <a:stretch xmlns:a="http://schemas.openxmlformats.org/drawingml/2006/main"/>
        </p:blipFill>
        <p:spPr>
          <a:xfrm xmlns:a="http://schemas.openxmlformats.org/drawingml/2006/main">
            <a:off x="514350" y="2267902"/>
            <a:ext cx="6867525" cy="291274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360ED-DE70-421B-8A18-4282EC6D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381125"/>
            <a:ext cx="395287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DFF4F2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5D13C-943F-4824-B565-8A2F26F3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381125"/>
            <a:ext cx="666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EA6B7C-C6D6-4E38-802B-6C4CE7F6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552575"/>
            <a:ext cx="3571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8F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8F87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13EA83-02CE-497B-8F9E-242CE5F7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00225"/>
            <a:ext cx="3552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28,264 rows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49E595-5C8F-4362-B856-015EFF08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57425"/>
            <a:ext cx="3552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Sequences 1, 2, 3, 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26796B-FAC9-491A-9F5B-233DB67F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943225"/>
            <a:ext cx="395287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EBED58-F74C-4D20-A56C-51079C39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943225"/>
            <a:ext cx="666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BBEF54-67D0-477E-B64F-5253556F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14675"/>
            <a:ext cx="3571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67B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E67B1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C67680-402C-4729-A399-8F842575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62325"/>
            <a:ext cx="3552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19,759 rows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BBE7E7-CA6F-484A-92A3-1C17EE01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19525"/>
            <a:ext cx="3552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Sequence 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5A2502-EAA8-453C-98A7-CB05E9AB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505325"/>
            <a:ext cx="395287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701E3-E15D-483F-B73C-C748AC8B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505325"/>
            <a:ext cx="666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BA7C61-08A6-49C5-A6F0-EA62D925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76775"/>
            <a:ext cx="3571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912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9120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C9D141-0A46-4468-BAD1-F53BDA92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924425"/>
            <a:ext cx="3552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4,307 rows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B4E0B0-642F-472D-B592-8775AFEF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381625"/>
            <a:ext cx="3552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Sequences 8 and 9 · no shuffle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E84C93-48E5-4F87-BE2F-7FE88131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ML-Based Thermal Risk Prediction</a:t>
            </a:r>
          </a:p>
        </p:txBody>
      </p:sp>
    </p:spTree>
    <p:extLst>
      <p:ext uri="{BB962C8B-B14F-4D97-AF65-F5344CB8AC3E}">
        <p14:creationId xmlns:p14="http://schemas.microsoft.com/office/powerpoint/2010/main" val="182458882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A39C84-1066-417C-8293-9D36F01E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8F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8F87"/>
                </a:solidFill>
                <a:latin typeface="Aptos"/>
                <a:ea typeface="Aptos"/>
                <a:cs typeface="Aptos"/>
              </a:rPr>
              <a:t>MODEL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BDB53-1173-41C7-AA24-C5E3D668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Random Forest was selected on balanced accuracy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0EA8C-33EA-439D-AB26-0BF163AB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89012-DB93-4927-9E3A-29E9D8DC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525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629A0-0AB1-4E4D-9E80-FAC33D75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7096125" cy="46863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82db267674e97"/>
          <a:stretch xmlns:a="http://schemas.openxmlformats.org/drawingml/2006/main"/>
        </p:blipFill>
        <p:spPr>
          <a:xfrm xmlns:a="http://schemas.openxmlformats.org/drawingml/2006/main">
            <a:off x="514350" y="2591791"/>
            <a:ext cx="6867525" cy="22649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AF4BD-7B89-4D85-B46A-95B2C5F6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381125"/>
            <a:ext cx="395287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DFF4F2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D4A4F-897C-4054-8302-0C4BED01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381125"/>
            <a:ext cx="666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67CC83-8CF5-4F0B-8051-4499A878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552575"/>
            <a:ext cx="3571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8F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8F87"/>
                </a:solidFill>
                <a:latin typeface="Aptos"/>
                <a:ea typeface="Aptos"/>
                <a:cs typeface="Aptos"/>
              </a:rPr>
              <a:t>5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9D5E40-C906-4B64-9D33-2161B0E3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00225"/>
            <a:ext cx="3552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0.653 BA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AEC8EA-AA22-4B46-9273-174FAB50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57425"/>
            <a:ext cx="3552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Random Forest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B16EC-DC25-4CEB-BA88-8EA0B99A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943225"/>
            <a:ext cx="395287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A7512D-EB45-45C6-B2D4-A4BB57D9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943225"/>
            <a:ext cx="666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D0FA2C-C794-4432-B1A9-E45F79A7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14675"/>
            <a:ext cx="3571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67B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E67B1"/>
                </a:solidFill>
                <a:latin typeface="Aptos"/>
                <a:ea typeface="Aptos"/>
                <a:cs typeface="Aptos"/>
              </a:rPr>
              <a:t>10 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21CFC6-E748-4152-91BB-1A435BDE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62325"/>
            <a:ext cx="3552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0.628 BA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44E5C1-6080-4F00-B8EE-3E005766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19525"/>
            <a:ext cx="3552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Random Forest 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AF5BCD-F469-4773-90A3-8F99B720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505325"/>
            <a:ext cx="395287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FC19FD-531A-459F-AD10-214C1CA5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505325"/>
            <a:ext cx="666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447BB6-059E-40FE-8235-BAD42EC7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76775"/>
            <a:ext cx="3571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912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9120"/>
                </a:solidFill>
                <a:latin typeface="Aptos"/>
                <a:ea typeface="Aptos"/>
                <a:cs typeface="Aptos"/>
              </a:rPr>
              <a:t>15 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231A4E-60B5-4808-915C-FD3A2EF1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924425"/>
            <a:ext cx="3552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0.627 BA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F849F7-32B8-4054-ACC2-1C1389F3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381625"/>
            <a:ext cx="3552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Random Forest validation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151A38-942D-4108-B4C4-2423E1FD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ML-Based Thermal Risk Prediction</a:t>
            </a:r>
          </a:p>
        </p:txBody>
      </p:sp>
    </p:spTree>
    <p:extLst>
      <p:ext uri="{BB962C8B-B14F-4D97-AF65-F5344CB8AC3E}">
        <p14:creationId xmlns:p14="http://schemas.microsoft.com/office/powerpoint/2010/main" val="16531190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B96231-5697-4102-B7CC-8C7FEAF2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8F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8F87"/>
                </a:solidFill>
                <a:latin typeface="Aptos"/>
                <a:ea typeface="Aptos"/>
                <a:cs typeface="Aptos"/>
              </a:rPr>
              <a:t>TEST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7F234-5234-450C-8A62-15C36964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HATCH normalization was explicit and limited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620C6-4652-4008-9308-DB66C8B4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F1A7D-3289-4AA0-9C5F-5280DFF3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525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EF95D-24CB-4C71-A3B6-849F68D1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7096125" cy="46863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d876683cc34219"/>
          <a:stretch xmlns:a="http://schemas.openxmlformats.org/drawingml/2006/main"/>
        </p:blipFill>
        <p:spPr>
          <a:xfrm xmlns:a="http://schemas.openxmlformats.org/drawingml/2006/main">
            <a:off x="514350" y="2359145"/>
            <a:ext cx="6867525" cy="273026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28AE0-06FE-4D25-8234-A6BF38B4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381125"/>
            <a:ext cx="395287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DFF4F2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074C98-2D8A-47D1-9C91-7C000E0C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381125"/>
            <a:ext cx="666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54B3C9-8245-4B5E-B7FD-7FAC2C68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552575"/>
            <a:ext cx="3571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8F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8F87"/>
                </a:solidFill>
                <a:latin typeface="Aptos"/>
                <a:ea typeface="Aptos"/>
                <a:cs typeface="Aptos"/>
              </a:rPr>
              <a:t>SHIFT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42BC60-38BB-4DAF-A83C-1113B8EC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00225"/>
            <a:ext cx="3552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+0.2°C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0140D6-C615-4D71-99A7-C24EAA2F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57425"/>
            <a:ext cx="3552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HATCH-only absolute temperatures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D2B8F-7989-4F85-9302-2E46C256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943225"/>
            <a:ext cx="395287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E0DED0-4CCE-4366-B281-AA8F92C6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943225"/>
            <a:ext cx="666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D608FA-A841-4752-AD68-F22023C2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14675"/>
            <a:ext cx="3571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67B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E67B1"/>
                </a:solidFill>
                <a:latin typeface="Aptos"/>
                <a:ea typeface="Aptos"/>
                <a:cs typeface="Aptos"/>
              </a:rPr>
              <a:t>UNCHANGED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5CC7F2-C9EE-4253-B1D6-72976CFA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62325"/>
            <a:ext cx="3552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Labels &amp; slopes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4ED15C-E99E-412A-A35E-071CA883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19525"/>
            <a:ext cx="3552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Also spread, mode and controller fields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555CA-1E2A-46A6-89FC-C418ED66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505325"/>
            <a:ext cx="395287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F68048-1F6B-4EED-8A2F-43D6A60C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505325"/>
            <a:ext cx="666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B7F248-3E64-4F1D-ADE1-E63E9037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76775"/>
            <a:ext cx="3571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912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9120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862D20-4909-4DBA-8CEC-7DE93303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924425"/>
            <a:ext cx="3552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Comparable scale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E2050E-4CDC-4213-833E-DEA9EB00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381625"/>
            <a:ext cx="3552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Fixed held-out evaluation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7E3CDD-2178-4C12-96B0-3E2C115D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ML-Based Thermal Risk Prediction</a:t>
            </a:r>
          </a:p>
        </p:txBody>
      </p:sp>
    </p:spTree>
    <p:extLst>
      <p:ext uri="{BB962C8B-B14F-4D97-AF65-F5344CB8AC3E}">
        <p14:creationId xmlns:p14="http://schemas.microsoft.com/office/powerpoint/2010/main" val="18399200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543418-73D1-4AA4-A86F-7E0B829F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8F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8F87"/>
                </a:solidFill>
                <a:latin typeface="Aptos"/>
                <a:ea typeface="Aptos"/>
                <a:cs typeface="Aptos"/>
              </a:rPr>
              <a:t>FINAL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250DD-4425-4356-B42F-6B743034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Held-out performance declines with horizon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06FF8-2F27-4889-856A-A53B38B2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3B9AB-852C-4A69-A800-3A651707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525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1A329-577F-4234-9164-EB0FFDF4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7096125" cy="46863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920e23c46458a"/>
          <a:stretch xmlns:a="http://schemas.openxmlformats.org/drawingml/2006/main"/>
        </p:blipFill>
        <p:spPr>
          <a:xfrm xmlns:a="http://schemas.openxmlformats.org/drawingml/2006/main">
            <a:off x="514350" y="2502983"/>
            <a:ext cx="6867525" cy="244258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BD910-0358-4814-B772-AA75A805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381125"/>
            <a:ext cx="395287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DFF4F2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543B6-6B9A-4C55-ABD2-B9A5B601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381125"/>
            <a:ext cx="666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BE255-69EA-4DB1-A93C-F07B925A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552575"/>
            <a:ext cx="3571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8F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8F87"/>
                </a:solidFill>
                <a:latin typeface="Aptos"/>
                <a:ea typeface="Aptos"/>
                <a:cs typeface="Aptos"/>
              </a:rPr>
              <a:t>5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A284C-9579-4B1A-BD0B-653CE65F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00225"/>
            <a:ext cx="3552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0.650 BA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866DA5-5AE4-4736-9E30-7F9E754A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57425"/>
            <a:ext cx="3552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Accuracy 0.831 · macro F1 0.639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AF91C-AD03-4009-AEFC-F7ABF87D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943225"/>
            <a:ext cx="395287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838EAA-7E97-4ED8-9674-D99F3AF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943225"/>
            <a:ext cx="666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F0E8EF-5803-4D0E-9EC2-F2E11160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14675"/>
            <a:ext cx="3571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67B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E67B1"/>
                </a:solidFill>
                <a:latin typeface="Aptos"/>
                <a:ea typeface="Aptos"/>
                <a:cs typeface="Aptos"/>
              </a:rPr>
              <a:t>10 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47DBD7-662E-4064-9A82-F12254DA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62325"/>
            <a:ext cx="3552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0.648 BA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EC4721-9F1E-49CA-9577-6ABAE107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19525"/>
            <a:ext cx="3552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Accuracy 0.766 · macro F1 0.639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2C16BD-540D-4133-85FF-B6AD3B1F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505325"/>
            <a:ext cx="395287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82EC0C-7FA2-44C2-9336-9C8F8E80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505325"/>
            <a:ext cx="666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35592C-6CC9-4996-8967-0CE2F788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76775"/>
            <a:ext cx="3571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912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9120"/>
                </a:solidFill>
                <a:latin typeface="Aptos"/>
                <a:ea typeface="Aptos"/>
                <a:cs typeface="Aptos"/>
              </a:rPr>
              <a:t>15 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75D78C-C1AB-4F30-8DC4-A7D8AF45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924425"/>
            <a:ext cx="3552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0.595 BA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9C3B7A-0F92-4477-AAD6-590E9893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381625"/>
            <a:ext cx="3552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Accuracy 0.669 · macro F1 0.596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A72BDA-7F5D-4581-BCBB-04921B20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ML-Based Thermal Risk Prediction</a:t>
            </a:r>
          </a:p>
        </p:txBody>
      </p:sp>
    </p:spTree>
    <p:extLst>
      <p:ext uri="{BB962C8B-B14F-4D97-AF65-F5344CB8AC3E}">
        <p14:creationId xmlns:p14="http://schemas.microsoft.com/office/powerpoint/2010/main" val="44378167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C690E0-DA4E-47C6-B67B-E2E6ABC7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8F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8F87"/>
                </a:solidFill>
                <a:latin typeface="Aptos"/>
                <a:ea typeface="Aptos"/>
                <a:cs typeface="Aptos"/>
              </a:rPr>
              <a:t>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43611-BB70-4C31-BC0E-4E706359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Stage 5 — the models were packaged behind an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9167A-642F-4444-817D-AB26824C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12C8E-66B3-4910-978E-F31E5AEF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525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A749D-E1B0-4050-A251-7AD42D02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7191375" cy="42672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5d9fef08145ef"/>
          <a:srcRect xmlns:a="http://schemas.openxmlformats.org/drawingml/2006/main" l="4059" t="0" r="40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543050"/>
            <a:ext cx="6962775" cy="4038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981D39-C038-4EC3-9795-740598E2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3886200" cy="1209675"/>
          </a:xfrm>
          <a:prstGeom xmlns:a="http://schemas.openxmlformats.org/drawingml/2006/main" prst="roundRect">
            <a:avLst>
              <a:gd name="adj" fmla="val 9449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0A38A6-5DD5-48F6-B514-5E1EF2F6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66675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EF21AC-CF1A-43A9-8167-5FF247A0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00200"/>
            <a:ext cx="350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8F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8F87"/>
                </a:solidFill>
                <a:latin typeface="Aptos"/>
                <a:ea typeface="Aptos"/>
                <a:cs typeface="Aptos"/>
              </a:rPr>
              <a:t>ARTIFACTS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3B9043-7B5A-4449-88D7-E3B542BB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4785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3 full pipelines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DD428-F022-46C4-9BAF-BE3B3934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05050"/>
            <a:ext cx="3486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Model version 1.0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F6FD9A-60CC-4ABC-94FA-9B2CCE98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47975"/>
            <a:ext cx="3886200" cy="1209675"/>
          </a:xfrm>
          <a:prstGeom xmlns:a="http://schemas.openxmlformats.org/drawingml/2006/main" prst="roundRect">
            <a:avLst>
              <a:gd name="adj" fmla="val 9449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3C6AC2-12C9-4AB6-8FE8-EE8CC77B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47975"/>
            <a:ext cx="66675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EB3660-E4FB-43AB-AB09-7D53A87D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19425"/>
            <a:ext cx="350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67B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E67B1"/>
                </a:solidFill>
                <a:latin typeface="Aptos"/>
                <a:ea typeface="Aptos"/>
                <a:cs typeface="Aptos"/>
              </a:rPr>
              <a:t>CONTRACT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4F6532-0495-4787-A9CB-91D33DF7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67075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31 features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30E6BF-1757-4D9B-94C1-7081732C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24275"/>
            <a:ext cx="3486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Validated before prediction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09BCB0-026E-40D6-9D35-D0EBA719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67200"/>
            <a:ext cx="38862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BED773-453B-45B3-AE47-DEE3FE47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672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FC5FD9-5D7E-4913-8C06-D91E281C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38650"/>
            <a:ext cx="350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912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9120"/>
                </a:solidFill>
                <a:latin typeface="Aptos"/>
                <a:ea typeface="Aptos"/>
                <a:cs typeface="Aptos"/>
              </a:rPr>
              <a:t>ENDPOINTS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49ACA5-7961-4528-B524-EA109D41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8630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/health + /predict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5E68CD-61B5-434E-8DE3-7C8FDE8E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143500"/>
            <a:ext cx="348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Interactive local Swagger UI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AF1657-B24E-488E-B09A-6C290A8B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ML-Based Thermal Risk Prediction</a:t>
            </a:r>
          </a:p>
        </p:txBody>
      </p:sp>
    </p:spTree>
    <p:extLst>
      <p:ext uri="{BB962C8B-B14F-4D97-AF65-F5344CB8AC3E}">
        <p14:creationId xmlns:p14="http://schemas.microsoft.com/office/powerpoint/2010/main" val="212724916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0ACF7F-E34C-4C8C-A8DE-178DD044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8F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8F87"/>
                </a:solidFill>
                <a:latin typeface="Aptos"/>
                <a:ea typeface="Aptos"/>
                <a:cs typeface="Aptos"/>
              </a:rPr>
              <a:t>PROJECT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767F93-E402-41C6-BF70-A854E254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Main difficulties and the decisions that resolved them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06B40-3BA3-4711-9798-7BA64555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D189A-A01A-4B2B-8733-540264BF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525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BBBDC-6D7D-4811-A9DE-8B94DD7E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954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F5C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F5C45"/>
                </a:solidFill>
                <a:latin typeface="Aptos"/>
                <a:ea typeface="Aptos"/>
                <a:cs typeface="Aptos"/>
              </a:rPr>
              <a:t>DIFFICULTY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E9FAC-5C3D-44F1-9B4D-6C75F425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4954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8F8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8F87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BA082-B6B3-456E-94D5-F7C11900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42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5F2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3B563-8EEE-4F97-AEC8-DCBB20F0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55530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FF4F2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A1C12-766A-483B-ADCE-B010244D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Sensor ERR values and missing readings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F0723-2CF4-4A4D-8A4D-EC45AB4E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24075"/>
            <a:ext cx="5172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645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645F"/>
                </a:solidFill>
                <a:latin typeface="Aptos"/>
                <a:ea typeface="Aptos"/>
                <a:cs typeface="Aptos"/>
              </a:rPr>
              <a:t>Use status evidence; retain transparent rejection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AFCE6-4692-4043-A5E9-102FD62D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2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5F2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4C133F-39BC-41AA-A10D-9B6D3E84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52750"/>
            <a:ext cx="55530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FF4F2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5D083D-9C6D-42E6-8F7D-63075D12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5277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Multiple runs with temporal dependence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421B19-912F-4E2E-94F2-244F4C45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24200"/>
            <a:ext cx="5172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645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645F"/>
                </a:solidFill>
                <a:latin typeface="Aptos"/>
                <a:ea typeface="Aptos"/>
                <a:cs typeface="Aptos"/>
              </a:rPr>
              <a:t>Sequence-aware features and chronological split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AE446D-0913-4E8B-A4E3-4BB6FEF4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52875"/>
            <a:ext cx="542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5F2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96089F-92B5-4147-962C-0F503ACF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952875"/>
            <a:ext cx="55530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FF4F2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77581D-764E-444E-8FEB-8D9098BA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529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Imbalanced LOW / NORMAL / HIGH classes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3A70CD-59E7-41E2-891B-3059116A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24325"/>
            <a:ext cx="5172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645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645F"/>
                </a:solidFill>
                <a:latin typeface="Aptos"/>
                <a:ea typeface="Aptos"/>
                <a:cs typeface="Aptos"/>
              </a:rPr>
              <a:t>Select with balanced accuracy and macro F1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ED7B9C-6D04-4C3A-868F-2B84B63F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542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5F2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D883F8-C72F-433B-ADD1-85E21252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953000"/>
            <a:ext cx="55530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FF4F2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FBBA53-1366-4169-8885-9A7BEC06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530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Mode-dependent HATCH temperature scale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BCF27C-53E4-49F5-A132-D0F9C248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124450"/>
            <a:ext cx="5172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645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645F"/>
                </a:solidFill>
                <a:latin typeface="Aptos"/>
                <a:ea typeface="Aptos"/>
                <a:cs typeface="Aptos"/>
              </a:rPr>
              <a:t>Apply a verified +0.2°C test normalization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36CF40-B336-4DB6-BBE9-C50FA42B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ML-Based Thermal Risk Prediction</a:t>
            </a:r>
          </a:p>
        </p:txBody>
      </p:sp>
    </p:spTree>
    <p:extLst>
      <p:ext uri="{BB962C8B-B14F-4D97-AF65-F5344CB8AC3E}">
        <p14:creationId xmlns:p14="http://schemas.microsoft.com/office/powerpoint/2010/main" val="156113240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6BAAB7-F980-4B21-A383-5728D267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8F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8F87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9736A-CCF0-4CED-A941-AF2AEA60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The capstone is complete and ready to present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325E5F-6DA2-46B7-925C-94359CE1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80610-A980-4810-901B-320856F2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525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21F55-044C-4FFB-81F1-1903F186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The project delivers a reproducible early-warning baseline from validated logs to a working API.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74A68-F4C6-4A3F-9139-303296A0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35623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CEF90-6931-4D79-BE4D-58E6BC61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28925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8F8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B8F87"/>
                </a:solidFill>
                <a:latin typeface="Aptos"/>
                <a:ea typeface="Aptos"/>
                <a:cs typeface="Aptos"/>
              </a:rPr>
              <a:t>53,061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EBD553-24C8-49DA-A8CD-595F1D49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6861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clean rows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F3943-D5FE-4AAB-ABFB-B6653DF8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1957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99.9736% of raw records retained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3BC4A1-5707-4CA9-B9CA-8173AE1D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35623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181453-0A6F-4FB8-9BE3-A4D7A32E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828925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E67B1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2E67B1"/>
                </a:solidFill>
                <a:latin typeface="Aptos"/>
                <a:ea typeface="Aptos"/>
                <a:cs typeface="Aptos"/>
              </a:rPr>
              <a:t>0.650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E3059D-79AB-4721-85EE-9D7432B0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6861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best test BA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763CAD-BA75-4DE8-9B80-0DFEEE59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1957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5 minute Random Forest horizon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258747-A6DF-4A80-8C6B-C5C4526C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33625"/>
            <a:ext cx="35623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471E6F-802C-4627-A690-57E1E5DE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828925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D991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D9912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E6F0F8-2610-4A59-A632-DDC473A7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6861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deployed models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A4073D-C8AB-4D8D-81CA-A9E1FA18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21957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One saved pipeline per horizon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F01977-44AF-456C-99F8-8B9A9AF7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645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645F"/>
                </a:solidFill>
                <a:latin typeface="Aptos"/>
                <a:ea typeface="Aptos"/>
                <a:cs typeface="Aptos"/>
              </a:rPr>
              <a:t>Next: collect more incubators and rare events · improve HIGH recall · automate raw-log feature generation · evaluate closed-loop control separately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232AA0-2538-4C9E-99BA-B98B0681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84081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2026-08-16T15:39:41.2710000Z</dcterms:created>
  <dcterms:modified xsi:type="dcterms:W3CDTF">2026-08-16T15:39:41.2710000Z</dcterms:modified>
</coreProperties>
</file>